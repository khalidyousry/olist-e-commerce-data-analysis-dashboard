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7" r:id="rId4"/>
    <p:sldId id="264" r:id="rId5"/>
    <p:sldId id="261" r:id="rId6"/>
    <p:sldId id="262" r:id="rId7"/>
    <p:sldId id="259" r:id="rId8"/>
    <p:sldId id="263" r:id="rId9"/>
    <p:sldId id="267" r:id="rId10"/>
  </p:sldIdLst>
  <p:sldSz cx="14630400" cy="8229600"/>
  <p:notesSz cx="8229600" cy="14630400"/>
  <p:embeddedFontLst>
    <p:embeddedFont>
      <p:font typeface="Arimo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utfit Extr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80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Olist Sales &amp; Revenue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Strategic Growth &amp; Operational Efficiency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B75B97-9AA5-4B3D-AF57-4897C22B2E2C}"/>
              </a:ext>
            </a:extLst>
          </p:cNvPr>
          <p:cNvSpPr txBox="1"/>
          <p:nvPr/>
        </p:nvSpPr>
        <p:spPr>
          <a:xfrm>
            <a:off x="656216" y="602428"/>
            <a:ext cx="9154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030A0"/>
                </a:solidFill>
              </a:rPr>
              <a:t>The goal of Analysis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29783D7-1F9C-4A3E-8B7E-FD6CDA2E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691EE0-D249-4262-8774-0CCA0A2749C3}"/>
              </a:ext>
            </a:extLst>
          </p:cNvPr>
          <p:cNvSpPr txBox="1"/>
          <p:nvPr/>
        </p:nvSpPr>
        <p:spPr>
          <a:xfrm>
            <a:off x="441064" y="3822057"/>
            <a:ext cx="8111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1- Understand Revenue Factors</a:t>
            </a:r>
          </a:p>
          <a:p>
            <a:r>
              <a:rPr lang="en-US" sz="4800" dirty="0"/>
              <a:t>2-Clients Satisfaction</a:t>
            </a:r>
          </a:p>
          <a:p>
            <a:r>
              <a:rPr lang="en-US" sz="4800" dirty="0"/>
              <a:t>3-Improve Seasonal Planning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774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150" y="1734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638943" y="2504480"/>
            <a:ext cx="32258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85624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345192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AA11D8-96BA-4AC7-B3C8-D3C38701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50" y="138780"/>
            <a:ext cx="14140100" cy="8004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29" y="373499"/>
            <a:ext cx="6150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7030A0"/>
                </a:solidFill>
              </a:rPr>
              <a:t>Robust Data Foundation for Accurate Insights</a:t>
            </a:r>
            <a:r>
              <a:rPr lang="en-US" sz="4800" b="1" dirty="0"/>
              <a:t>"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3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0417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82597"/>
            <a:ext cx="30663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63741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C2DD9-60CE-4A27-B811-F1104BD03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" y="1251347"/>
            <a:ext cx="14372215" cy="6858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8489"/>
            <a:ext cx="6311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/>
              <a:t>Peak Season Problem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974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Sales growth reveals a predictable but extreme seasonal pattern, with Q4 creating significant operational pressure.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641074" y="3505200"/>
            <a:ext cx="30383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641074" y="399561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641074" y="5175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641074" y="5665470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11A80F-F517-4B03-ACCB-EFE3BF167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706" y="4114800"/>
            <a:ext cx="8614284" cy="4033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103"/>
            <a:ext cx="95121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Solution: Demand Shifting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1907858"/>
            <a:ext cx="4205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Pre-Season Early Bird Campaign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843332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Launch exclusive discounts and promotions one month before peak season to incentivise early purchases and smooth demand distribution.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521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Operational Benefits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102900"/>
            <a:ext cx="4205168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Reduce Q4 logistics pressure by 30-40%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Avoid emergency overtime costs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 order fulfillment accuracy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Enhance customer experience with faster delivery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73143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Geographic Goldmines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998827"/>
            <a:ext cx="270093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São Paulo Dominance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536037"/>
            <a:ext cx="835199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São Paulo (SP) leads as the top-performing state, representing the largest customer base and highest revenue contribution. This established market presents significant opportunities for targeted investment.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738568"/>
            <a:ext cx="276998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Opportunity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5275778"/>
            <a:ext cx="835199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 in hyper-localised marketing campaigns, regional partnerships, and expanded logistics infrastructure to capitalise on existing market strength and capture additional market share.</a:t>
            </a:r>
            <a:endParaRPr lang="en-US" sz="1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491F7D-A4D0-478E-A120-74B21AEF8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59" y="1129636"/>
            <a:ext cx="4959275" cy="698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6397" y="1313498"/>
            <a:ext cx="7218402" cy="62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Premium Peak Pricing Strategy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6397" y="2197179"/>
            <a:ext cx="7751207" cy="1456611"/>
          </a:xfrm>
          <a:prstGeom prst="roundRect">
            <a:avLst>
              <a:gd name="adj" fmla="val 7533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3537" y="2197179"/>
            <a:ext cx="91440" cy="1456611"/>
          </a:xfrm>
          <a:prstGeom prst="roundRect">
            <a:avLst>
              <a:gd name="adj" fmla="val 91406"/>
            </a:avLst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986790" y="2418993"/>
            <a:ext cx="2654856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Dynamic Pricing Model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86790" y="2834521"/>
            <a:ext cx="7239000" cy="5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time-based pricing adjustments during peak days to maximise revenue whilst managing demand intensity.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6397" y="3828336"/>
            <a:ext cx="7751207" cy="1456611"/>
          </a:xfrm>
          <a:prstGeom prst="roundRect">
            <a:avLst>
              <a:gd name="adj" fmla="val 7533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3537" y="3828336"/>
            <a:ext cx="91440" cy="1456611"/>
          </a:xfrm>
          <a:prstGeom prst="roundRect">
            <a:avLst>
              <a:gd name="adj" fmla="val 91406"/>
            </a:avLst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986790" y="4050149"/>
            <a:ext cx="3068598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Shipping Fee Optimisation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86790" y="4465677"/>
            <a:ext cx="7239000" cy="5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Introduce premium shipping tiers during high-demand periods, filtering for high-intent customers willing to pay for guaranteed delivery.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6397" y="5459492"/>
            <a:ext cx="7751207" cy="1456611"/>
          </a:xfrm>
          <a:prstGeom prst="roundRect">
            <a:avLst>
              <a:gd name="adj" fmla="val 7533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3537" y="5459492"/>
            <a:ext cx="91440" cy="1456611"/>
          </a:xfrm>
          <a:prstGeom prst="roundRect">
            <a:avLst>
              <a:gd name="adj" fmla="val 91406"/>
            </a:avLst>
          </a:prstGeom>
          <a:solidFill>
            <a:srgbClr val="5E4CE6"/>
          </a:solidFill>
          <a:ln/>
        </p:spPr>
      </p:sp>
      <p:sp>
        <p:nvSpPr>
          <p:cNvPr id="14" name="Text 11"/>
          <p:cNvSpPr/>
          <p:nvPr/>
        </p:nvSpPr>
        <p:spPr>
          <a:xfrm>
            <a:off x="986790" y="5681305"/>
            <a:ext cx="2487454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ROI Impact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6790" y="6096833"/>
            <a:ext cx="7239000" cy="5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Strategic pricing during 15-20 peak days can generate incremental revenue of $800K-$1.2M whilst improving service quality for all customers.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9B59B3-3711-4CD8-9A70-40F69519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417" y="2497198"/>
            <a:ext cx="5586073" cy="3727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C918A-4D43-4450-B20E-E6ADAC987D3E}"/>
              </a:ext>
            </a:extLst>
          </p:cNvPr>
          <p:cNvSpPr txBox="1"/>
          <p:nvPr/>
        </p:nvSpPr>
        <p:spPr>
          <a:xfrm>
            <a:off x="1990165" y="763793"/>
            <a:ext cx="96280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r>
              <a:rPr lang="en-US" dirty="0"/>
              <a:t>                                                                             </a:t>
            </a:r>
            <a:r>
              <a:rPr lang="en-US" sz="5400" b="1" dirty="0"/>
              <a:t>Thank you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356FA-776E-4F02-B199-9863E8031955}"/>
              </a:ext>
            </a:extLst>
          </p:cNvPr>
          <p:cNvSpPr txBox="1"/>
          <p:nvPr/>
        </p:nvSpPr>
        <p:spPr>
          <a:xfrm>
            <a:off x="2667896" y="5002306"/>
            <a:ext cx="7605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Khalid </a:t>
            </a:r>
            <a:r>
              <a:rPr lang="en-US" sz="3200" b="1" dirty="0" err="1"/>
              <a:t>Yousry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81825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248</Words>
  <Application>Microsoft Office PowerPoint</Application>
  <PresentationFormat>Custom</PresentationFormat>
  <Paragraphs>48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Arimo</vt:lpstr>
      <vt:lpstr>Arial</vt:lpstr>
      <vt:lpstr>Outfit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ENG/Khalid</dc:creator>
  <cp:lastModifiedBy>المستقبل</cp:lastModifiedBy>
  <cp:revision>4</cp:revision>
  <dcterms:created xsi:type="dcterms:W3CDTF">2026-03-26T18:55:56Z</dcterms:created>
  <dcterms:modified xsi:type="dcterms:W3CDTF">2026-03-26T22:07:22Z</dcterms:modified>
</cp:coreProperties>
</file>